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คู่มือนี้เขียนสำหรับผู้วางแผนดีมานด์ที่ต้องทำรอบพยากรณ์รายเดือน ไม่ต้องมีพื้นความรู้ด้านสถิติมาก่อน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แถบห้าขั้นตอนนี้อยู่บนหน้าจอจริงตลอดเวลา และจะไฮไลต์ขั้นที่คุณอยู่ให้เห็น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ตารางเลื่อนแนวนอนได้ คอลัมน์ Override และเหตุผลอยู่ทางขวาสุด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ปิดท้ายด้วยหลักการ: ความโปร่งใสและการสืบย้อนได้ สำคัญกว่าความแม่นยำเพียงอย่างเดียว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173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66928" y="2395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J I A N   C H 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2926080"/>
            <a:ext cx="603504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054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คู่มือผู้ใช้งาน · USER MANUAL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34747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Module 02+ · Sales Forecast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66928" y="431596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พยากรณ์ยอดขายเดือนถัดไป จากประวัติการขายจริงใน FoodStory POS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แบบ Monthly Rolling · รายเมนู/SKU × ช่องทาง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18120" y="1417320"/>
            <a:ext cx="3794760" cy="3566160"/>
          </a:xfrm>
          <a:prstGeom prst="roundRect">
            <a:avLst>
              <a:gd name="adj" fmla="val 2308"/>
            </a:avLst>
          </a:prstGeom>
          <a:solidFill>
            <a:srgbClr val="2B2824"/>
          </a:solidFill>
          <a:ln w="12700">
            <a:solidFill>
              <a:srgbClr val="3A36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สำหรับ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0" y="19202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Demand Planner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และทีม Supply Chain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46720" y="2788920"/>
            <a:ext cx="329184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29718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เวอร์ชัน  1.0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วันที่  30 กรกฎาคม 2026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จัดทำโดย  SCM / IBP / IT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7B7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เวลาอ่าน  ประมาณ 20 นาที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อ่านจบแล้วคุณจะทำรอบพยากรณ์เดือนถัดไปได้เองทั้งหมด โดยไม่ต้องขอความช่วยเหลือจาก 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OVERVIEW · ภาพรวม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คู่มือนี้พาคุณทำอะไรได้บ้าง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81328"/>
            <a:ext cx="2558720" cy="3383280"/>
          </a:xfrm>
          <a:prstGeom prst="roundRect">
            <a:avLst>
              <a:gd name="adj" fmla="val 3216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6276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" y="1901952"/>
            <a:ext cx="215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อัปเดตตัวเลขเดือนถัดไปได้เอง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2450592"/>
            <a:ext cx="215638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ดึงประวัติการขายจาก FoodStory POS แล้วให้ระบบพยากรณ์เดือนถัดไปให้ ไม่ต้องรอรอบ workbook และไม่ต้องขอไฟล์จากใคร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99968" y="1481328"/>
            <a:ext cx="2558720" cy="3383280"/>
          </a:xfrm>
          <a:prstGeom prst="roundRect">
            <a:avLst>
              <a:gd name="adj" fmla="val 3216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1136" y="16276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01136" y="1901952"/>
            <a:ext cx="215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รู้ว่าตัวเลขแม่นแค่ไหน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01136" y="2450592"/>
            <a:ext cx="215638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ทุกแถวบอกค่าความคลาดเคลื่อนย้อนหลัง (WMAPE) และอคติ (Bias) ให้คุณตัดสินได้ว่าจะเชื่อตัวเลขไหน และตัวไหนต้องใช้ดุลพินิจ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1481328"/>
            <a:ext cx="2558720" cy="3383280"/>
          </a:xfrm>
          <a:prstGeom prst="roundRect">
            <a:avLst>
              <a:gd name="adj" fmla="val 3216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4176" y="16276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34176" y="1901952"/>
            <a:ext cx="215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เห็นทันทีว่าต่างจากแผนตรงไหน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34176" y="2450592"/>
            <a:ext cx="215638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ระบบเทียบกับ Baseline และ Consensus v6.30 ให้อัตโนมัติ พร้อมติดธงเฉพาะรายการที่ต้องเอาเข้าที่ประชุม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66047" y="1481328"/>
            <a:ext cx="2558720" cy="3383280"/>
          </a:xfrm>
          <a:prstGeom prst="roundRect">
            <a:avLst>
              <a:gd name="adj" fmla="val 3216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67215" y="16276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67215" y="1901952"/>
            <a:ext cx="215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แก้ตัวเลขได้ พร้อมเก็บเหตุผล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67215" y="2450592"/>
            <a:ext cx="215638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เมื่อคุณรู้บางอย่างที่ข้อมูลไม่รู้ ให้แก้ได้เลย แต่ต้องบันทึกเหตุผล เพื่อให้ย้อนกลับมาเรียนรู้ได้ในรอบถัดไป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5065776"/>
            <a:ext cx="11057839" cy="676656"/>
          </a:xfrm>
          <a:prstGeom prst="roundRect">
            <a:avLst>
              <a:gd name="adj" fmla="val 8108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5065776"/>
            <a:ext cx="41148" cy="676656"/>
          </a:xfrm>
          <a:prstGeom prst="rect">
            <a:avLst/>
          </a:prstGeom>
          <a:solidFill>
            <a:srgbClr val="5F7040"/>
          </a:solidFill>
          <a:ln w="12700">
            <a:solidFill>
              <a:srgbClr val="5F7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084064"/>
            <a:ext cx="107835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ทุกอย่างคำนวณในเบราว์เซอร์ของคุณเอง — ไฟล์ยอดขายไม่ถูกส่งขึ้นเซิร์ฟเวอร์ใด ๆ ปิดหน้าเว็บเมื่อไรข้อมูลก็หายไปจากหน้าจอทันที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WORKFLOW · ภาพรวมการทำงาน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ห้าขั้นตอน ตั้งแต่เปิดไฟล์จนได้ตัวเลขที่ใช้ประชุมได้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pic>
        <p:nvPicPr>
          <p:cNvPr id="6" name="Image 0" descr="/home/claude/pkg/shots/01_st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618488"/>
            <a:ext cx="11149279" cy="114026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3069651"/>
            <a:ext cx="2050633" cy="2487168"/>
          </a:xfrm>
          <a:prstGeom prst="roundRect">
            <a:avLst>
              <a:gd name="adj" fmla="val 401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3215955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" y="3490275"/>
            <a:ext cx="164829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Export จาก FoodStory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" y="4038915"/>
            <a:ext cx="1648297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ดึงรายงานยอดขายรายสินค้า ย้อนหลัง 12–24 เดือน · ทำเดือนละครั้ง ใช้เวลาไม่เกิน 5 นาที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18729" y="3069651"/>
            <a:ext cx="2050633" cy="2487168"/>
          </a:xfrm>
          <a:prstGeom prst="roundRect">
            <a:avLst>
              <a:gd name="adj" fmla="val 401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19897" y="3215955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019897" y="3490275"/>
            <a:ext cx="164829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อัปโหลดไฟล์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019897" y="4038915"/>
            <a:ext cx="1648297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ลากไฟล์มาวาง หรือคลิกเลือก · รองรับ .csv และ .xlsx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70531" y="3069651"/>
            <a:ext cx="2050633" cy="2487168"/>
          </a:xfrm>
          <a:prstGeom prst="roundRect">
            <a:avLst>
              <a:gd name="adj" fmla="val 401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71699" y="3215955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271699" y="3490275"/>
            <a:ext cx="164829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จับคู่คอลัมน์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271699" y="4038915"/>
            <a:ext cx="1648297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ระบบเดาให้ก่อน คุณแค่ตรวจว่าถูก · ถ้าไม่ตรงแก้ได้จาก dropdown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22332" y="3069651"/>
            <a:ext cx="2050633" cy="2487168"/>
          </a:xfrm>
          <a:prstGeom prst="roundRect">
            <a:avLst>
              <a:gd name="adj" fmla="val 401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23500" y="3215955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523500" y="3490275"/>
            <a:ext cx="164829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ทบทวนผลพยากรณ์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523500" y="4038915"/>
            <a:ext cx="1648297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ดูค่าความแม่นยำ เทียบกับแผน และหาว่ารายการไหนต้องคุยกัน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574134" y="3069651"/>
            <a:ext cx="2050633" cy="2487168"/>
          </a:xfrm>
          <a:prstGeom prst="roundRect">
            <a:avLst>
              <a:gd name="adj" fmla="val 4013"/>
            </a:avLst>
          </a:prstGeom>
          <a:solidFill>
            <a:srgbClr val="2B2824"/>
          </a:solidFill>
          <a:ln w="12700">
            <a:solidFill>
              <a:srgbClr val="3A362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775302" y="3215955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7B7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775302" y="3490275"/>
            <a:ext cx="164829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แก้ตัวเลข &amp; ส่งต่อ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775302" y="4038915"/>
            <a:ext cx="1648297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บันทึก override พร้อมเหตุผล · Export Excel · ป้อนเข้า Suggested PR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03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01 · เตรียมข้อมูล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ต้อง export อะไรจาก FoodStory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618488" y="1133856"/>
            <a:ext cx="100062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ขั้นนี้ทำนอกระบบ ทำครั้งเดียวต่อเดือน — ตั้งค่ารายงานให้ถูกครั้งแรกแล้วรอบต่อไปกดซ้ำได้เลย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819656"/>
            <a:ext cx="5806440" cy="3794760"/>
          </a:xfrm>
          <a:prstGeom prst="roundRect">
            <a:avLst>
              <a:gd name="adj" fmla="val 2169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0253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รายงานที่ต้องดึง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รายงานยอดขายรายสินค้า (Product Sales) แบบสรุปรายเดือน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ช่วงเวลา ย้อนหลังอย่างน้อย 12 เดือน — ถ้ามี 24 เดือนยิ่งดี เพราะระบบจะจับฤดูกาลได้แม่นขึ้น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แยกตามช่องทางหรือสาขา ถ้า FoodStory ให้เลือกได้ (ไม่มีก็ยังใช้งานได้)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บันทึกเป็น .csv หรือ .xlsx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อย่าลบแถวหัวรายงานออก ระบบข้ามให้เอง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47688" y="1819656"/>
            <a:ext cx="4977079" cy="3794760"/>
          </a:xfrm>
          <a:prstGeom prst="roundRect">
            <a:avLst>
              <a:gd name="adj" fmla="val 2169"/>
            </a:avLst>
          </a:prstGeom>
          <a:solidFill>
            <a:srgbClr val="1C1A17"/>
          </a:solidFill>
          <a:ln w="12700">
            <a:solidFill>
              <a:srgbClr val="2B28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20025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คอลัมน์ที่ระบบต้องการ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03720" y="24323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เดือน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893808" y="24323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B7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จำเป็น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03720" y="2834640"/>
            <a:ext cx="434340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9169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รหัสสินค้า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893808" y="29169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B7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จำเป็น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03720" y="3319272"/>
            <a:ext cx="434340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34015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จำนวนขาย (แก้ว)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893808" y="34015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B7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จำเป็น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03720" y="3803904"/>
            <a:ext cx="434340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38862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ชื่อเมนู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893808" y="38862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ถ้ามี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03720" y="4288536"/>
            <a:ext cx="434340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43708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ช่องทาง / สาขา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893808" y="43708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ถ้ามี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03720" y="4773168"/>
            <a:ext cx="434340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48554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ยอดขาย (บาท)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893808" y="48554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ถ้ามี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03720" y="5257800"/>
            <a:ext cx="434340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5779008"/>
            <a:ext cx="11057839" cy="566928"/>
          </a:xfrm>
          <a:prstGeom prst="roundRect">
            <a:avLst>
              <a:gd name="adj" fmla="val 9677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5779008"/>
            <a:ext cx="41148" cy="566928"/>
          </a:xfrm>
          <a:prstGeom prst="rect">
            <a:avLst/>
          </a:prstGeom>
          <a:solidFill>
            <a:srgbClr val="8A6415"/>
          </a:solidFill>
          <a:ln w="12700">
            <a:solidFill>
              <a:srgbClr val="8A641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797296"/>
            <a:ext cx="107835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ไม่แน่ใจว่าไฟล์ต้องหน้าตาแบบไหน — กดปุ่ม “ดาวน์โหลดเทมเพลต” ในหน้าเว็บ แล้วจัดคอลัมน์ให้เหมือนไฟล์นั้น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04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02 · อัปโหลดไฟล์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ลากไฟล์มาวาง แค่นั้น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pic>
        <p:nvPicPr>
          <p:cNvPr id="6" name="Image 0" descr="/home/claude/pkg/shots/02_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27048"/>
            <a:ext cx="7223760" cy="22353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5008" y="1527048"/>
            <a:ext cx="3559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สามปุ่มที่ควรรู้จัก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65008" y="1956816"/>
            <a:ext cx="3559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ดาวน์โหลดเทมเพลต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65008" y="2231136"/>
            <a:ext cx="3559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ได้ไฟล์ตัวอย่างที่มีคอลัมน์ครบ ใช้เป็นแบบตอนจัดไฟล์จาก FoodStory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65008" y="3035808"/>
            <a:ext cx="3559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โหลดข้อมูลตัวอย่าง (DEMO)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65008" y="3310128"/>
            <a:ext cx="3559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สร้างข้อมูลสมมติ 14 เดือนให้ทดลองกดเล่นก่อนใช้ของจริง — ตัวเลขที่ได้ห้ามนำไปตัดสินใจ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65008" y="4114800"/>
            <a:ext cx="3559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ล้างข้อมูล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65008" y="4389120"/>
            <a:ext cx="3559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เริ่มใหม่ทั้งหมด ใช้เมื่ออัปโหลดผิดไฟล์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4178808"/>
            <a:ext cx="7223760" cy="822960"/>
          </a:xfrm>
          <a:prstGeom prst="roundRect">
            <a:avLst>
              <a:gd name="adj" fmla="val 6667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" y="4178808"/>
            <a:ext cx="41148" cy="822960"/>
          </a:xfrm>
          <a:prstGeom prst="rect">
            <a:avLst/>
          </a:prstGeom>
          <a:solidFill>
            <a:srgbClr val="5F7040"/>
          </a:solidFill>
          <a:ln w="12700">
            <a:solidFill>
              <a:srgbClr val="5F70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4197096"/>
            <a:ext cx="6949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ไฟล์อยู่ในเครื่องคุณเท่านั้น ระบบอ่านไฟล์ตรงจากหน้าเว็บ ไม่มีการอัปโหลดขึ้นเซิร์ฟเวอร์ — เปิดใช้ได้แม้เน็ตบริษัทช้า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05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03 · จับคู่คอลัมน์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ระบบเดาให้แล้ว — คุณแค่ตรวจสามจุด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pic>
        <p:nvPicPr>
          <p:cNvPr id="6" name="Image 0" descr="/home/claude/pkg/shots/03_mapp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99616"/>
            <a:ext cx="7772400" cy="29757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13648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997696" y="1572768"/>
            <a:ext cx="26270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คอลัมน์ “เดือน” ถูกไหม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997696" y="1883664"/>
            <a:ext cx="26270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ถ้าผิด ตัวเลขทั้งหมดจะเพี้ยน — ระบบจะขึ้นเตือนสีแดงถ้าเดาแล้วไม่มั่นใจ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13648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997696" y="2743200"/>
            <a:ext cx="26270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คอลัมน์ “รหัส SKU” ถูกไหม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997696" y="3054096"/>
            <a:ext cx="26270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ต้องเป็นรหัสเดียวกับที่ใช้ใน IBP workbook ไม่งั้นจะเทียบกับแผนไม่ได้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13648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997696" y="3913632"/>
            <a:ext cx="26270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คอลัมน์ “จำนวน” ใช่แก้วไหม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997696" y="4224528"/>
            <a:ext cx="26270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ระวังสับสนกับยอดเงิน — ถ้าเลือกผิดตัวเลขจะใหญ่ผิดปกติ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613648" y="5093208"/>
            <a:ext cx="3011119" cy="777240"/>
          </a:xfrm>
          <a:prstGeom prst="roundRect">
            <a:avLst>
              <a:gd name="adj" fmla="val 7059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13648" y="5093208"/>
            <a:ext cx="41148" cy="777240"/>
          </a:xfrm>
          <a:prstGeom prst="rect">
            <a:avLst/>
          </a:prstGeom>
          <a:solidFill>
            <a:srgbClr val="57534C"/>
          </a:solidFill>
          <a:ln w="12700">
            <a:solidFill>
              <a:srgbClr val="5753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8240" y="5111496"/>
            <a:ext cx="27367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ตรวจครบแล้วกด ⚡ ประมวลผล &amp; พยากรณ์ · ระบบจะสรุปให้ว่าอ่านได้กี่ SKU กี่เดือน ตั้งแต่เดือนไหนถึงเดือนไหน — อ่านบรรทัดนั้นทุกครั้ง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06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03 (ต่อ) · กฎจับกลุ่มช่องทาง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ทำให้ชื่อสาขาที่ยาวเหยียด กลายเป็นสามกลุ่มที่ใช้วางแผนได้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81328"/>
            <a:ext cx="6126480" cy="2286000"/>
          </a:xfrm>
          <a:prstGeom prst="roundRect">
            <a:avLst>
              <a:gd name="adj" fmla="val 3600"/>
            </a:avLst>
          </a:prstGeom>
          <a:solidFill>
            <a:srgbClr val="EAE4D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459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เขียนกฎแบบนี้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956816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 = grab, แกร็บ, line, lineman, panda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 (Franchise) = jf, franchise, แฟรนไชส์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 (Master/Company) = jc, master, บริษัท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385876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ชื่อกลุ่ม = คำค้น, คำค้น, …  (บรรทัดละหนึ่งกลุ่ม)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04888" y="1481328"/>
            <a:ext cx="4519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ระบบทำงานอย่างไร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04888" y="1865376"/>
            <a:ext cx="451987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ดูค่าในคอลัมน์ช่องทาง แล้วหาว่ามีคำค้นไหนอยู่ในนั้น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ไม่สนตัวพิมพ์ใหญ่เล็ก และจับแบบมีคำนั้นอยู่ข้างในก็พอ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กลุ่มแรกที่ตรงชนะ — เรียงกลุ่มที่เจาะจงที่สุดไว้บน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ค่าที่ไม่เข้ากฎใดเลย ตกไปกลุ่มตั้งต้น (อื่น ๆ)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04888" y="4087368"/>
            <a:ext cx="4519879" cy="868680"/>
          </a:xfrm>
          <a:prstGeom prst="roundRect">
            <a:avLst>
              <a:gd name="adj" fmla="val 6316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04888" y="4087368"/>
            <a:ext cx="41148" cy="868680"/>
          </a:xfrm>
          <a:prstGeom prst="rect">
            <a:avLst/>
          </a:prstGeom>
          <a:solidFill>
            <a:srgbClr val="8A6415"/>
          </a:solidFill>
          <a:ln w="12700">
            <a:solidFill>
              <a:srgbClr val="8A64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4105656"/>
            <a:ext cx="4245559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ถ้าเห็นกลุ่ม “อื่น ๆ” มียอดเยอะผิดปกติ แปลว่ามีสาขาที่ชื่อไม่เข้ากฎ — เพิ่มคำค้นแล้วกดประมวลผลใหม่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315968"/>
          <a:ext cx="6126480" cy="914400"/>
        </p:xfrm>
        <a:graphic>
          <a:graphicData uri="http://schemas.openxmlformats.org/drawingml/2006/table">
            <a:tbl>
              <a:tblPr/>
              <a:tblGrid>
                <a:gridCol w="3369564"/>
                <a:gridCol w="2756916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ค่าดิบในไฟล์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เข้ากลุ่ม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608576"/>
          <a:ext cx="6126480" cy="914400"/>
        </p:xfrm>
        <a:graphic>
          <a:graphicData uri="http://schemas.openxmlformats.org/drawingml/2006/table">
            <a:tbl>
              <a:tblPr/>
              <a:tblGrid>
                <a:gridCol w="3369564"/>
                <a:gridCol w="27569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GRAB Delivery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Delivery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JF056 Robinson Suvarnabhumi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FC (Franchise)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JC002 Banthat Thong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MS (Master/Company)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LINE MAN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Delivery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07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04 · พารามิเตอร์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แปดปุ่มปรับ — ค่าตั้งต้นใช้ได้เลย ไม่ต้องแตะถ้าไม่มีเหตุผล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pic>
        <p:nvPicPr>
          <p:cNvPr id="6" name="Image 0" descr="/home/claude/pkg/shots/c_par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6675120" cy="1347861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16368" y="1481328"/>
          <a:ext cx="4108399" cy="914400"/>
        </p:xfrm>
        <a:graphic>
          <a:graphicData uri="http://schemas.openxmlformats.org/drawingml/2006/table">
            <a:tbl>
              <a:tblPr/>
              <a:tblGrid>
                <a:gridCol w="1232520"/>
                <a:gridCol w="903848"/>
                <a:gridCol w="197203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ปุ่ม</a:t>
                      </a:r>
                      <a:endParaRPr lang="en-US" sz="93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ตั้งต้น</a:t>
                      </a:r>
                      <a:endParaRPr lang="en-US" sz="93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หมายถึงอะไร</a:t>
                      </a:r>
                      <a:endParaRPr lang="en-US" sz="93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16368" y="1773936"/>
          <a:ext cx="4108399" cy="914400"/>
        </p:xfrm>
        <a:graphic>
          <a:graphicData uri="http://schemas.openxmlformats.org/drawingml/2006/table">
            <a:tbl>
              <a:tblPr/>
              <a:tblGrid>
                <a:gridCol w="1232520"/>
                <a:gridCol w="903848"/>
                <a:gridCol w="197203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เดือนที่พยากรณ์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4B4E78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เดือนถัดไป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เลือกได้ถึง +3 เดือน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วิธี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4B4E78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Auto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ปล่อยให้ระบบเลือก — ดูสไลด์ถัดไป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Holdout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4B4E78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3 เดือน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จำนวนเดือนที่กันไว้ทดสอบความแม่น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SES α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4B4E78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0.3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ยิ่งสูงยิ่งเชื่อเดือนล่าสุดมากขึ้น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ขั้นต่ำประวัติ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4B4E78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4 เดือน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น้อยกว่านี้ถือว่า SKU ใหม่ ติดธงเตือน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ปรับจำนวนวัน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4B4E78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เปิด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ก.พ. 28 วัน ≠ ส.ค. 31 วัน ต่างกันราว 10%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ตัด outlier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4B4E78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เปิด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ไม่ให้เดือนโปรโมชันดันตัวเลขทั้งปี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ธงเตือน gap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4B4E78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15%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ต่างจากแผนเกินเท่านี้ ให้ติดธง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66928" y="3264408"/>
            <a:ext cx="6675120" cy="960120"/>
          </a:xfrm>
          <a:prstGeom prst="roundRect">
            <a:avLst>
              <a:gd name="adj" fmla="val 5714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566928" y="3264408"/>
            <a:ext cx="41148" cy="960120"/>
          </a:xfrm>
          <a:prstGeom prst="rect">
            <a:avLst/>
          </a:prstGeom>
          <a:solidFill>
            <a:srgbClr val="57534C"/>
          </a:solidFill>
          <a:ln w="12700">
            <a:solidFill>
              <a:srgbClr val="57534C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31520" y="3282696"/>
            <a:ext cx="64008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เปลี่ยนค่าไหนก็ได้ ตารางคำนวณใหม่ทันทีโดยไม่ต้องอัปโหลดไฟล์ซ้ำ — ลองปรับดูแล้วสังเกตว่าค่าความแม่น (WMAPE) ดีขึ้นหรือแย่ลง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66928" y="4407408"/>
            <a:ext cx="6675120" cy="960120"/>
          </a:xfrm>
          <a:prstGeom prst="roundRect">
            <a:avLst>
              <a:gd name="adj" fmla="val 5714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66928" y="4407408"/>
            <a:ext cx="41148" cy="960120"/>
          </a:xfrm>
          <a:prstGeom prst="rect">
            <a:avLst/>
          </a:prstGeom>
          <a:solidFill>
            <a:srgbClr val="8A6415"/>
          </a:solidFill>
          <a:ln w="12700">
            <a:solidFill>
              <a:srgbClr val="8A641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31520" y="4425696"/>
            <a:ext cx="64008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“ตัดเดือนล่าสุดทิ้ง” ให้เปิดเมื่อคุณ export ระหว่างเดือน เพราะเดือนล่าสุดยังขายไม่ครบ ถ้าไม่ตัด พยากรณ์จะต่ำกว่าความจริง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08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เบื้องหลัง · วิธีพยากรณ์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เจ็ดวิธีที่แข่งกัน — และแต่ละวิธีเหมาะกับเมนูแบบไหน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27048"/>
          <a:ext cx="11057839" cy="914400"/>
        </p:xfrm>
        <a:graphic>
          <a:graphicData uri="http://schemas.openxmlformats.org/drawingml/2006/table">
            <a:tbl>
              <a:tblPr/>
              <a:tblGrid>
                <a:gridCol w="1548097"/>
                <a:gridCol w="4865449"/>
                <a:gridCol w="3317352"/>
                <a:gridCol w="1326941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วิธี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คิดยังไง (แบบภาษาคน)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เหมาะกับเมนูแบบไหน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ประวัติขั้นต่ำ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37944"/>
          <a:ext cx="11057839" cy="914400"/>
        </p:xfrm>
        <a:graphic>
          <a:graphicData uri="http://schemas.openxmlformats.org/drawingml/2006/table">
            <a:tbl>
              <a:tblPr/>
              <a:tblGrid>
                <a:gridCol w="1548097"/>
                <a:gridCol w="4865449"/>
                <a:gridCol w="3317352"/>
                <a:gridCol w="1326941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Naive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ใช้ยอดเดือนล่าสุดตรง ๆ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เมนูที่ยอดนิ่ง หรือช่วงตลาดกำลังเปลี่ยนทิศเร็ว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1 เดือน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MA-3M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เฉลี่ยสามเดือนล่าสุด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เมนูที่แกว่งเดือนต่อเดือนแต่ระดับคงที่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2 เดือน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MA-6M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เฉลี่ยหกเดือนล่าสุด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เมนูที่แกว่งแรง ต้องการค่าที่นิ่งกว่า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4 เดือน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WMA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เฉลี่ยสามเดือน แต่ให้น้ำหนักเดือนล่าสุดมากกว่า (50/30/20)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เมนูที่กำลังเปลี่ยนระดับอย่างช้า ๆ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3 เดือน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SES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ค่อย ๆ ปรับค่ากลางเข้าหาข้อมูลใหม่ ตามน้ำหนัก α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เมนูที่ระดับเลื่อนไปเรื่อย ๆ ไม่มีแนวโน้มชัด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3 เดือน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Trend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ลากเส้นตรงผ่านหกเดือนล่าสุดแล้วต่อเส้นออกไป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เมนูใหม่ที่กำลัง ramp หรือเมนูที่กำลังถดถอยต่อเนื่อง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3 เดือน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Seasonal-12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ใช้ยอดของเดือนเดียวกันเมื่อปีที่แล้ว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เมนูที่ขึ้นกับฤดูกาลชัด เช่น ชาใสช่วงหน้าฝน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12 เดือน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4818888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66928" y="4818888"/>
            <a:ext cx="41148" cy="868680"/>
          </a:xfrm>
          <a:prstGeom prst="rect">
            <a:avLst/>
          </a:prstGeom>
          <a:solidFill>
            <a:srgbClr val="4B4E78"/>
          </a:solidFill>
          <a:ln w="12700">
            <a:solidFill>
              <a:srgbClr val="4B4E7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4837176"/>
            <a:ext cx="10783519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คุณไม่ต้องเลือกเอง — ระบบทดสอบทั้งเจ็ดวิธีกับข้อมูลจริงของแต่ละเมนู แล้วเลือกวิธีที่พลาดน้อยที่สุดให้ทีละ SKU ทีละช่องทาง สไลด์ถัดไปอธิบายว่าทดสอบยังไง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09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เบื้องหลัง · การเลือกวิธี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ระบบเลือกวิธีให้อย่างไร — เหมือนสอบย้อนหลัง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490874" cy="2651760"/>
          </a:xfrm>
          <a:prstGeom prst="roundRect">
            <a:avLst>
              <a:gd name="adj" fmla="val 310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7190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ขั้นที่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" y="1993392"/>
            <a:ext cx="3088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ปิดข้อมูลท้ายไว้ก่อน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2542032"/>
            <a:ext cx="308853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ถ้ามีประวัติ 14 เดือน ระบบจะแกล้งทำเป็นไม่เห็น 3 เดือนสุดท้าย (ค่า Holdout) แล้วใช้ 11 เดือนแรกเป็นข้อมูลฝึก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0410" y="1572768"/>
            <a:ext cx="3490874" cy="2651760"/>
          </a:xfrm>
          <a:prstGeom prst="roundRect">
            <a:avLst>
              <a:gd name="adj" fmla="val 310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1578" y="17190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ขั้นที่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51578" y="1993392"/>
            <a:ext cx="3088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ให้ทุกวิธีทายเดือนที่ปิดไว้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51578" y="2542032"/>
            <a:ext cx="308853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แต่ละวิธีทายเดือนที่ 12 แล้วเปิดเฉลย · ทายเดือนที่ 13 แล้วเปิดเฉลย · ทายเดือนที่ 14 แล้วเปิดเฉลย — ทายทีละก้าวเหมือนใช้งานจริง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3893" y="1572768"/>
            <a:ext cx="3490874" cy="2651760"/>
          </a:xfrm>
          <a:prstGeom prst="roundRect">
            <a:avLst>
              <a:gd name="adj" fmla="val 3103"/>
            </a:avLst>
          </a:prstGeom>
          <a:solidFill>
            <a:srgbClr val="2B2824"/>
          </a:solidFill>
          <a:ln w="12700">
            <a:solidFill>
              <a:srgbClr val="3A36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5061" y="17190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7B7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ขั้นที่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35061" y="1993392"/>
            <a:ext cx="3088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เลือกวิธีที่พลาดน้อยที่สุด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35061" y="2542032"/>
            <a:ext cx="308853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รวมความคลาดเคลื่อนของแต่ละวิธีเป็นค่า WMAPE แล้วเลือกวิธีที่ต่ำสุด · ถ้าเสมอกัน เลือกวิธีที่เรียบง่ายกว่า</a:t>
            </a:r>
            <a:endParaRPr lang="en-US" sz="1100" dirty="0"/>
          </a:p>
        </p:txBody>
      </p:sp>
      <p:pic>
        <p:nvPicPr>
          <p:cNvPr id="18" name="Image 0" descr="/home/claude/pkg/shots/06_m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453128"/>
            <a:ext cx="11057839" cy="38550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66928" y="491032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ตัวอย่างจริง: จาก 54 คู่ SKU×ช่องทาง ระบบเลือก Naive 24 ตัว · Seasonal-12 18 ตัว · Trend 6 · SES 3 · MA-6M 3 — เมนูต่างกลุ่มเหมาะกับคนละวิธีจริง ๆ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6928" y="532180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" y="5321808"/>
            <a:ext cx="41148" cy="658368"/>
          </a:xfrm>
          <a:prstGeom prst="rect">
            <a:avLst/>
          </a:prstGeom>
          <a:solidFill>
            <a:srgbClr val="57534C"/>
          </a:solidFill>
          <a:ln w="12700">
            <a:solidFill>
              <a:srgbClr val="57534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5340096"/>
            <a:ext cx="1078351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ถ้าอยากเทียบ ให้เปลี่ยนช่อง “วิธี” เป็นวิธีเดียวทั้งบอร์ด แล้วดูว่าค่า WMAPE รวมแย่ลงแค่ไหน — นั่นคือมูลค่าที่การเลือกอัตโนมัติสร้างให้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10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04 · อ่านผล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สี่ตัวเลขบนสุด อ่านอย่างไร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pic>
        <p:nvPicPr>
          <p:cNvPr id="6" name="Image 0" descr="/home/claude/pkg/shots/c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27048"/>
            <a:ext cx="11057839" cy="15106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3357722"/>
            <a:ext cx="2572436" cy="2240280"/>
          </a:xfrm>
          <a:prstGeom prst="roundRect">
            <a:avLst>
              <a:gd name="adj" fmla="val 367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350402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KPI 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" y="3778346"/>
            <a:ext cx="21701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ยอดพยากรณ์รวม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" y="4326986"/>
            <a:ext cx="21701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ตัวเลขที่จะเอาไปใช้ · ดูว่ากี่ SKU และกี่คู่ SKU×ช่องทางประกอบกันเป็นยอดนี้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95396" y="3357722"/>
            <a:ext cx="2572436" cy="2240280"/>
          </a:xfrm>
          <a:prstGeom prst="roundRect">
            <a:avLst>
              <a:gd name="adj" fmla="val 367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96564" y="350402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KPI 02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596564" y="3778346"/>
            <a:ext cx="21701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vs เดือนล่าสุด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596564" y="4326986"/>
            <a:ext cx="21701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โตหรือหดกี่เปอร์เซ็นต์ · ถ้าตัวเลขนี้ดูผิดปกติ ให้กลับไปเช็กว่าเดือนล่าสุดครบเดือนหรือยัง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23864" y="3357722"/>
            <a:ext cx="2572436" cy="2240280"/>
          </a:xfrm>
          <a:prstGeom prst="roundRect">
            <a:avLst>
              <a:gd name="adj" fmla="val 367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5032" y="350402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KPI 03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25032" y="3778346"/>
            <a:ext cx="21701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Backtest WMAPE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25032" y="4326986"/>
            <a:ext cx="21701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ความคลาดเคลื่อนเฉลี่ยถ่วงน้ำหนักของทั้งชุด · ต่ำกว่า 20% ถือว่าใช้วางแผนได้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052331" y="3357722"/>
            <a:ext cx="2572436" cy="2240280"/>
          </a:xfrm>
          <a:prstGeom prst="roundRect">
            <a:avLst>
              <a:gd name="adj" fmla="val 3673"/>
            </a:avLst>
          </a:prstGeom>
          <a:solidFill>
            <a:srgbClr val="2B2824"/>
          </a:solidFill>
          <a:ln w="12700">
            <a:solidFill>
              <a:srgbClr val="3A362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53499" y="350402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7B7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KPI 04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253499" y="3778346"/>
            <a:ext cx="21701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vs Consensus v6.30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253499" y="4326986"/>
            <a:ext cx="21701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ต่างจากแผนที่ตกลงไว้กี่เปอร์เซ็นต์ · นี่คือวาระหลักของ Demand Review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66928" y="5872322"/>
            <a:ext cx="11057839" cy="530352"/>
          </a:xfrm>
          <a:prstGeom prst="roundRect">
            <a:avLst>
              <a:gd name="adj" fmla="val 10345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6928" y="5872322"/>
            <a:ext cx="41148" cy="530352"/>
          </a:xfrm>
          <a:prstGeom prst="rect">
            <a:avLst/>
          </a:prstGeom>
          <a:solidFill>
            <a:srgbClr val="57534C"/>
          </a:solidFill>
          <a:ln w="12700">
            <a:solidFill>
              <a:srgbClr val="57534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" y="5890610"/>
            <a:ext cx="1078351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ตัวเลข “ปรับวันในเดือน ×1.011” ใต้ KPI ตัวที่สอง คือตัวคูณที่ชดเชยจำนวนวันในเดือน — ถ้าเห็นเป็น ×1.000 แปลว่าคุณปิดตัวเลือกนั้นไว้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11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อ่านค่าให้เป็น · WMAPE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ตัวเลขนี้บอกว่า “เชื่อได้แค่ไหน”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81328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EAE4D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642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WMAPE = ผลรวมของ |ทาย − จริง|  ÷  ผลรวมของยอดจริง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1671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วัดจากการทดสอบย้อนหลัง ไม่ใช่การเดา · ยิ่งต่ำยิ่งแม่น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081528"/>
          <a:ext cx="5486400" cy="914400"/>
        </p:xfrm>
        <a:graphic>
          <a:graphicData uri="http://schemas.openxmlformats.org/drawingml/2006/table">
            <a:tbl>
              <a:tblPr/>
              <a:tblGrid>
                <a:gridCol w="1755648"/>
                <a:gridCol w="373075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ค่า WMAPE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แปลว่า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392424"/>
          <a:ext cx="5486400" cy="914400"/>
        </p:xfrm>
        <a:graphic>
          <a:graphicData uri="http://schemas.openxmlformats.org/drawingml/2006/table">
            <a:tbl>
              <a:tblPr/>
              <a:tblGrid>
                <a:gridCol w="1755648"/>
                <a:gridCol w="37307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F7040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ต่ำกว่า 10%</a:t>
                      </a:r>
                      <a:endParaRPr lang="en-US" sz="11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แม่นมาก ใช้ตัวเลขได้เลย</a:t>
                      </a:r>
                      <a:endParaRPr lang="en-US" sz="11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F7040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10 – 20%</a:t>
                      </a:r>
                      <a:endParaRPr lang="en-US" sz="11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ใช้วางแผนได้ ตรวจเฉพาะรายการใหญ่</a:t>
                      </a:r>
                      <a:endParaRPr lang="en-US" sz="11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A641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20 – 30%</a:t>
                      </a:r>
                      <a:endParaRPr lang="en-US" sz="11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พอใช้ ควรใช้ดุลพินิจประกอบ</a:t>
                      </a:r>
                      <a:endParaRPr lang="en-US" sz="11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C4A3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เกิน 30%</a:t>
                      </a:r>
                      <a:endParaRPr lang="en-US" sz="11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ระบบติดธงเตือน — อย่าเชื่อตัวเลขอย่างเดียว</a:t>
                      </a:r>
                      <a:endParaRPr lang="en-US" sz="11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464808" y="1481328"/>
            <a:ext cx="5159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ทำไมไม่ใช้ MAPE ธรรมดา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64808" y="1865376"/>
            <a:ext cx="5159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MAPE คิดเปอร์เซ็นต์ผิดพลาดของแต่ละเดือนแยกกัน เดือนที่ขายได้ 3 แก้วแล้วทายพลาด 3 แก้ว จะกลายเป็นผิด 100% และดึงค่าเฉลี่ยทั้งชุดพัง ทั้งที่ผลกระทบทางธุรกิจแทบไม่มี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464808" y="2871216"/>
            <a:ext cx="5159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WMAPE ถ่วงน้ำหนักด้วยปริมาณจริง เมนูที่ขายเยอะจึงมีน้ำหนักมากกว่า ซึ่งตรงกับความเสียหายจริงเวลาพยากรณ์พลาด และเป็นตัวชี้วัดเดียวกับที่ IBP workbook ใช้อยู่แล้ว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64808" y="3950208"/>
            <a:ext cx="5159959" cy="1188720"/>
          </a:xfrm>
          <a:prstGeom prst="roundRect">
            <a:avLst>
              <a:gd name="adj" fmla="val 4615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64808" y="3950208"/>
            <a:ext cx="41148" cy="1188720"/>
          </a:xfrm>
          <a:prstGeom prst="rect">
            <a:avLst/>
          </a:prstGeom>
          <a:solidFill>
            <a:srgbClr val="4B4E78"/>
          </a:solidFill>
          <a:ln w="12700">
            <a:solidFill>
              <a:srgbClr val="4B4E7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29400" y="3968496"/>
            <a:ext cx="488563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ค่า WMAPE ในตารางคือของ “วิธีที่ระบบเลือก” ถ้าอยากเห็นของทั้งเจ็ดวิธี ให้เปิดชีต MethodScores ในไฟล์ Excel ที่ export ออกมา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12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อ่านค่าให้เป็น · Bias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ตัวเลขนี้บอกว่า “พลาดไปทางไหน”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27048"/>
            <a:ext cx="5368900" cy="2377440"/>
          </a:xfrm>
          <a:prstGeom prst="roundRect">
            <a:avLst>
              <a:gd name="adj" fmla="val 3462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55648"/>
            <a:ext cx="482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C4A3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Bias เป็นบวก  (+)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2167128"/>
            <a:ext cx="4820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ระบบพยากรณ์สูงกว่าความจริงอย่างเป็นระบบ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2560320"/>
            <a:ext cx="48202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เสี่ยงสั่งวัตถุดิบเกิน → เงินจม และของหมดอายุ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ตรงกับปัญหา time-fence over-commit −20% ใน Module 03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ควรพิจารณา haircut ก่อนเปิด PO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55868" y="1527048"/>
            <a:ext cx="5368900" cy="2377440"/>
          </a:xfrm>
          <a:prstGeom prst="roundRect">
            <a:avLst>
              <a:gd name="adj" fmla="val 3462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0188" y="1755648"/>
            <a:ext cx="482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4E78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Bias เป็นลบ  (−)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0188" y="2167128"/>
            <a:ext cx="4820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ระบบพยากรณ์ต่ำกว่าความจริงอย่างเป็นระบบ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0188" y="2560320"/>
            <a:ext cx="48202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เสี่ยงของขาด → เสียโอกาสขายและเสียลูกค้า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อันตรายเป็นพิเศษกับเมนูฮีโรอย่างกลุ่มองุ่น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ควรเพิ่ม safety stock เฉพาะรายการนั้น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133088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4133088"/>
            <a:ext cx="41148" cy="868680"/>
          </a:xfrm>
          <a:prstGeom prst="rect">
            <a:avLst/>
          </a:prstGeom>
          <a:solidFill>
            <a:srgbClr val="57534C"/>
          </a:solidFill>
          <a:ln w="12700">
            <a:solidFill>
              <a:srgbClr val="5753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51376"/>
            <a:ext cx="10783519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ต่างกับ WMAPE ตรงนี้: WMAPE บอกว่าพลาด “เท่าไร” · Bias บอกว่าพลาด “ไปทางไหน” · พยากรณ์ที่ WMAPE สูงแต่ Bias ใกล้ศูนย์ ยังพอใช้วางแผนรวมได้ แต่พยากรณ์ที่ Bias เบ้ไปทางเดียวตลอด จะสะสมปัญหาสต๊อกทุกเดือน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5184648"/>
            <a:ext cx="11057839" cy="777240"/>
          </a:xfrm>
          <a:prstGeom prst="roundRect">
            <a:avLst>
              <a:gd name="adj" fmla="val 7059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5184648"/>
            <a:ext cx="41148" cy="777240"/>
          </a:xfrm>
          <a:prstGeom prst="rect">
            <a:avLst/>
          </a:prstGeom>
          <a:solidFill>
            <a:srgbClr val="8A6415"/>
          </a:solidFill>
          <a:ln w="12700">
            <a:solidFill>
              <a:srgbClr val="8A64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202936"/>
            <a:ext cx="1078351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กติกาง่าย ๆ: ถ้า Bias ของ SKU ใหญ่ ๆ เบ้ไปทางเดียวกันหลายตัวติดกัน ให้สงสัยว่ามีเหตุการณ์ที่ข้อมูลยังไม่รู้ เช่น แคมเปญที่กำลังจะจบ หรือสาขาใหม่ที่เพิ่งเปิด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13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อ่านค่าให้เป็น · ธงเตือน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ห้าธงที่ระบบติดให้ และคุณต้องทำอะไรต่อ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57839" cy="914400"/>
        </p:xfrm>
        <a:graphic>
          <a:graphicData uri="http://schemas.openxmlformats.org/drawingml/2006/table">
            <a:tbl>
              <a:tblPr/>
              <a:tblGrid>
                <a:gridCol w="1879833"/>
                <a:gridCol w="3870244"/>
                <a:gridCol w="5307763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ธง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ระบบติดให้เมื่อ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คุณควรทำอะไร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83664"/>
          <a:ext cx="11057839" cy="914400"/>
        </p:xfrm>
        <a:graphic>
          <a:graphicData uri="http://schemas.openxmlformats.org/drawingml/2006/table">
            <a:tbl>
              <a:tblPr/>
              <a:tblGrid>
                <a:gridCol w="1879833"/>
                <a:gridCol w="3870244"/>
                <a:gridCol w="5307763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🆕 ประวัติสั้น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มีข้อมูลน้อยกว่า 4 เดือน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อย่าเชื่อตัวเลขระบบ ให้ประมาณเองจากเมนูที่คล้ายกัน หรือจากแผน launch ของ MKT แล้วใส่เป็น override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⏹ ไม่มียอด 2 เดือน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สองเดือนล่าสุดขายไม่ได้เลย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เช็กว่าเลิกขายจริงหรือข้อมูลขาด · ถ้าเลิกขายจริง ปล่อยไว้เป็น 0 และแจ้ง SCM ให้เคลียร์วัตถุดิบค้าง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⚠ WMAPE สูง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ความคลาดเคลื่อนเกิน 30%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ยอดเมนูนี้แกว่งเกินกว่าสถิติจะจับได้ · ใช้ดุลพินิจ และพิจารณาเพิ่ม safety stock แทนการเชื่อตัวเลข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⚡ ตัด outlier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มีเดือนที่ยอดผิดปกติถูกลดน้ำหนัก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เช็กว่าเดือนนั้นคือเดือนโปรโมชันหรือไม่ · ถ้าเดือนหน้ามีโปรฯ อีก ให้ปรับขึ้นเป็น override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📈 / 📉 gap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ต่างจาก Consensus เกินเกณฑ์ที่ตั้งไว้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นี่คือรายการที่ต้องเอาเข้าที่ประชุม Demand Review · เตรียมคำอธิบายว่าทำไม POS ถึงบอกคนละเรื่องกับแผน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5449824"/>
            <a:ext cx="11057839" cy="731520"/>
          </a:xfrm>
          <a:prstGeom prst="roundRect">
            <a:avLst>
              <a:gd name="adj" fmla="val 7500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66928" y="5449824"/>
            <a:ext cx="41148" cy="731520"/>
          </a:xfrm>
          <a:prstGeom prst="rect">
            <a:avLst/>
          </a:prstGeom>
          <a:solidFill>
            <a:srgbClr val="5F7040"/>
          </a:solidFill>
          <a:ln w="12700">
            <a:solidFill>
              <a:srgbClr val="5F704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5468112"/>
            <a:ext cx="107835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ทางลัด: ติ๊ก “เฉพาะรายการที่ต้องตัดสินใจ” แล้วตารางจะเหลือเฉพาะแถวที่มีธง — นี่คือวาระการประชุมของคุณ ไม่ต้องไล่ดูทั้ง 200 SKU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14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04 · ตารางพยากรณ์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อ่านตารางทีละคอลัมน์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pic>
        <p:nvPicPr>
          <p:cNvPr id="6" name="Image 0" descr="/home/claude/pkg/shots/c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11057839" cy="27064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4498688"/>
            <a:ext cx="2586152" cy="1874520"/>
          </a:xfrm>
          <a:prstGeom prst="roundRect">
            <a:avLst>
              <a:gd name="adj" fmla="val 4390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46449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คอลัมน์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" y="4919312"/>
            <a:ext cx="2183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ประวัติ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" y="5467952"/>
            <a:ext cx="21838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กราฟเส้นเล็กแสดง 12 เดือนล่าสุด · ดูรูปทรงก่อนดูตัวเลข จะจับผิดปกติได้เร็วกว่า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90824" y="4498688"/>
            <a:ext cx="2586152" cy="1874520"/>
          </a:xfrm>
          <a:prstGeom prst="roundRect">
            <a:avLst>
              <a:gd name="adj" fmla="val 4390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91992" y="46449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คอลัมน์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591992" y="4919312"/>
            <a:ext cx="2183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วิธี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591992" y="5467952"/>
            <a:ext cx="21838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ป้ายบอกว่าระบบเลือกวิธีไหนให้เมนูนี้ · ถ้าเห็น mix แปลว่าแต่ละช่องทางใช้คนละวิธี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4720" y="4498688"/>
            <a:ext cx="2586152" cy="1874520"/>
          </a:xfrm>
          <a:prstGeom prst="roundRect">
            <a:avLst>
              <a:gd name="adj" fmla="val 4390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15888" y="46449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คอลัมน์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15888" y="4919312"/>
            <a:ext cx="2183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Δ ล่าสุด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15888" y="5467952"/>
            <a:ext cx="21838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พยากรณ์ต่างจากเดือนล่าสุดกี่เปอร์เซ็นต์ · ตัวเลขโดดผิดปกติคือจุดที่ต้องดูก่อน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038615" y="4498688"/>
            <a:ext cx="2586152" cy="1874520"/>
          </a:xfrm>
          <a:prstGeom prst="roundRect">
            <a:avLst>
              <a:gd name="adj" fmla="val 4390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39783" y="46449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คอลัมน์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239783" y="4919312"/>
            <a:ext cx="2183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Gap%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239783" y="5467952"/>
            <a:ext cx="21838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ต่างจาก Consensus กี่เปอร์เซ็นต์ · สีเขียวคืออยู่ในเกณฑ์ สีแดงคือต้องคุยกัน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15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05 · แก้ตัวเลข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Override — เมื่อคุณรู้บางอย่างที่ข้อมูลไม่รู้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pic>
        <p:nvPicPr>
          <p:cNvPr id="6" name="Image 0" descr="/home/claude/pkg/shots/c_overr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6903720" cy="24000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44968" y="1481328"/>
            <a:ext cx="38797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ทำสามอย่างนี้เสมอ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44968" y="189280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092440" y="1892808"/>
            <a:ext cx="3532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ใส่ชื่อคุณในช่อง “ผู้ทบทวน” ก่อน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92440" y="2185416"/>
            <a:ext cx="35323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ทำครั้งเดียวต่อรอบ ระบบจะติดชื่อให้ทุก override ที่คุณแก้หลังจากนั้น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44968" y="294436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092440" y="2944368"/>
            <a:ext cx="3532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พิมพ์ตัวเลขใหม่ในช่อง Override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92440" y="3236976"/>
            <a:ext cx="35323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ช่องจะเปลี่ยนสี ยอดรวมและ Gap% คำนวณใหม่ทันที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744968" y="399592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092440" y="3995928"/>
            <a:ext cx="3532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เขียนเหตุผลให้คนอื่นอ่านรู้เรื่อง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092440" y="4288536"/>
            <a:ext cx="35323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“ล็อกโปรฯ Grab ส.ค.” ดีกว่า “ปรับตามที่คุยกัน” — เดือนหน้าคุณจะขอบคุณตัวเอง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6928" y="4270248"/>
            <a:ext cx="6903720" cy="868680"/>
          </a:xfrm>
          <a:prstGeom prst="roundRect">
            <a:avLst>
              <a:gd name="adj" fmla="val 6316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" y="4270248"/>
            <a:ext cx="41148" cy="868680"/>
          </a:xfrm>
          <a:prstGeom prst="rect">
            <a:avLst/>
          </a:prstGeom>
          <a:solidFill>
            <a:srgbClr val="9C4A37"/>
          </a:solidFill>
          <a:ln w="12700">
            <a:solidFill>
              <a:srgbClr val="9C4A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288536"/>
            <a:ext cx="6629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สำคัญมาก: override เก็บอยู่ในหน้าเว็บชั่วคราวเท่านั้น ถ้ารีเฟรชหรือปิดหน้าจะหายหมด — กด Export Excel ก่อนปิดทุกครั้ง ไฟล์นั้นคือบันทึกถาวรและหลักฐานการตัดสินใจ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6928" y="5321808"/>
            <a:ext cx="6903720" cy="658368"/>
          </a:xfrm>
          <a:prstGeom prst="roundRect">
            <a:avLst>
              <a:gd name="adj" fmla="val 833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" y="5321808"/>
            <a:ext cx="41148" cy="658368"/>
          </a:xfrm>
          <a:prstGeom prst="rect">
            <a:avLst/>
          </a:prstGeom>
          <a:solidFill>
            <a:srgbClr val="8A6415"/>
          </a:solidFill>
          <a:ln w="12700">
            <a:solidFill>
              <a:srgbClr val="8A641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5340096"/>
            <a:ext cx="6629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ถ้าคุณต้อง override เกิน 30% ของ SKU ในรอบเดียว แปลว่าปัญหาอยู่ที่ข้อมูลหรือวิธี ไม่ใช่ที่ตัวเลข — แจ้ง IT/IBP อย่าแก้ทีละตัวทุกเดือน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16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มุมมอง · SKU × ช่องทาง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เมื่อไรควรสลับไปดูรายช่องทาง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618488" y="1133856"/>
            <a:ext cx="100062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ผลรวมของมุมมอง “รวมราย SKU” กับมุมมองรายช่องทางตรงกันเสมอ — มุมมองแรกใช้เทียบกับ Module 02 มุมมองที่สองใช้ทำงานลึก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pic>
        <p:nvPicPr>
          <p:cNvPr id="7" name="Image 0" descr="/home/claude/pkg/shots/c_cha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65376"/>
            <a:ext cx="11057839" cy="251314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4689417"/>
            <a:ext cx="3503066" cy="1783080"/>
          </a:xfrm>
          <a:prstGeom prst="roundRect">
            <a:avLst>
              <a:gd name="adj" fmla="val 4615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4835721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ใช้เมื่อ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8096" y="5110041"/>
            <a:ext cx="31007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วางแผนกำลังการผลิตต่อช่องทาง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68096" y="5658681"/>
            <a:ext cx="310073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Delivery กับหน้าร้านใช้เวลาเตรียมและบรรจุภัณฑ์ต่างกัน — ยอดรวมเท่ากันแต่แผนคนละแบบ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4314" y="4689417"/>
            <a:ext cx="3503066" cy="1783080"/>
          </a:xfrm>
          <a:prstGeom prst="roundRect">
            <a:avLst>
              <a:gd name="adj" fmla="val 4615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45482" y="4835721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ใช้เมื่อ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45482" y="5110041"/>
            <a:ext cx="31007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ช่องทางหนึ่งโตสวนอีกช่องทาง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45482" y="5658681"/>
            <a:ext cx="310073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ถ้า Delivery โตแต่หน้าร้านหด ยอดรวมอาจดูนิ่ง ทั้งที่โครงสร้างธุรกิจกำลังเปลี่ยน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21701" y="4689417"/>
            <a:ext cx="3503066" cy="1783080"/>
          </a:xfrm>
          <a:prstGeom prst="roundRect">
            <a:avLst>
              <a:gd name="adj" fmla="val 4615"/>
            </a:avLst>
          </a:prstGeom>
          <a:solidFill>
            <a:srgbClr val="2B2824"/>
          </a:solidFill>
          <a:ln w="12700">
            <a:solidFill>
              <a:srgbClr val="3A36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2869" y="4835721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7B7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ใช้เมื่อ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322869" y="5110041"/>
            <a:ext cx="31007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จะ override เฉพาะช่องทาง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22869" y="5658681"/>
            <a:ext cx="310073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เช่น ล็อกแคมเปญ Grab เดือนหน้า ให้แก้เฉพาะแถว Delivery ไม่ต้องแตะช่องทางอื่น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17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05 · ส่งต่อ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ไฟล์ Excel สี่ชีต — ใช้ชีตไหนทำอะไร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pic>
        <p:nvPicPr>
          <p:cNvPr id="6" name="Image 0" descr="/home/claude/pkg/shots/10_ex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11057839" cy="495278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96646"/>
          <a:ext cx="11057839" cy="914400"/>
        </p:xfrm>
        <a:graphic>
          <a:graphicData uri="http://schemas.openxmlformats.org/drawingml/2006/table">
            <a:tbl>
              <a:tblPr/>
              <a:tblGrid>
                <a:gridCol w="1769254"/>
                <a:gridCol w="4644292"/>
                <a:gridCol w="464429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ชีต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มีอะไร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เอาไปทำอะไร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07542"/>
          <a:ext cx="11057839" cy="914400"/>
        </p:xfrm>
        <a:graphic>
          <a:graphicData uri="http://schemas.openxmlformats.org/drawingml/2006/table">
            <a:tbl>
              <a:tblPr/>
              <a:tblGrid>
                <a:gridCol w="1769254"/>
                <a:gridCol w="4644292"/>
                <a:gridCol w="4644292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Forecast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ตัวเลขพยากรณ์ Override Final วิธี WMAPE Bias Baseline Consensus Gap เหตุผล ผู้ทบทวน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ชีตหลัก — เอาเข้า IBP workbook และใช้เป็นเอกสารประกอบการประชุม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History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เมทริกซ์ยอดขายย้อนหลังทุกเดือน ราย SKU × ช่องทาง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ตรวจสอบย้อนกลับเมื่อมีคนถามว่าตัวเลขมาจากไหน · ใช้ทำกราฟเพิ่มเองได้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MethodScores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ค่า WMAPE ของทั้งเจ็ดวิธี ต่อหนึ่ง SKU × ช่องทาง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พิสูจน์ว่าการเลือกวิธีสมเหตุสมผล · ใช้ในการกำกับดูแลกระบวนการ (governance)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Overrides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เฉพาะรายการที่ถูกแก้ พร้อมค่าเดิม ค่าใหม่ เหตุผล และผู้แก้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Audit trail ของรอบนี้ · เก็บไว้ทบทวนในรอบถัดไปว่าที่แก้ไปนั้นถูกหรือผิด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66928" y="5423894"/>
            <a:ext cx="11057839" cy="731520"/>
          </a:xfrm>
          <a:prstGeom prst="roundRect">
            <a:avLst>
              <a:gd name="adj" fmla="val 7500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566928" y="5423894"/>
            <a:ext cx="41148" cy="731520"/>
          </a:xfrm>
          <a:prstGeom prst="rect">
            <a:avLst/>
          </a:prstGeom>
          <a:solidFill>
            <a:srgbClr val="8A6415"/>
          </a:solidFill>
          <a:ln w="12700">
            <a:solidFill>
              <a:srgbClr val="8A6415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31520" y="5442182"/>
            <a:ext cx="107835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จำนวนแถวบนหน้าจอจำกัดที่ 250 แถวเพื่อความเร็ว แต่ไฟล์ที่ export ออกมามีครบทุกแถวเสมอ — อย่าแปลกใจถ้าไฟล์มีมากกว่าที่เห็น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18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05 · ส่งต่อ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ป้อนพยากรณ์เข้า Suggested PR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pic>
        <p:nvPicPr>
          <p:cNvPr id="6" name="Image 0" descr="/home/claude/pkg/shots/11_pr_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11057839" cy="49527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2296646"/>
            <a:ext cx="5368900" cy="2286000"/>
          </a:xfrm>
          <a:prstGeom prst="roundRect">
            <a:avLst>
              <a:gd name="adj" fmla="val 3600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497814"/>
            <a:ext cx="4856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กดแล้วเกิดอะไรขึ้น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863574"/>
            <a:ext cx="48568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ระบบคำนวณ Demand Index = พยากรณ์เดือนหน้า ÷ ยอดจริงเดือนล่าสุด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นำไปคูณอัตราการเบิกใช้วัตถุดิบเดิม แล้วคำนวณ Suggested PR และ Cover-Days ใหม่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กดปุ่มเดิมอีกครั้งเพื่อกลับไปใช้ฐานเดิม — ไม่ทำลายข้อมูลเก่า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55868" y="2296646"/>
            <a:ext cx="5368900" cy="2286000"/>
          </a:xfrm>
          <a:prstGeom prst="roundRect">
            <a:avLst>
              <a:gd name="adj" fmla="val 3600"/>
            </a:avLst>
          </a:prstGeom>
          <a:solidFill>
            <a:srgbClr val="1C1A17"/>
          </a:solidFill>
          <a:ln w="12700">
            <a:solidFill>
              <a:srgbClr val="2B28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1900" y="2497814"/>
            <a:ext cx="4856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B7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ข้อจำกัดที่ต้องรู้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11900" y="2863574"/>
            <a:ext cx="48568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พยากรณ์อยู่ในหน่วยแก้ว แต่สต๊อกอยู่ในหน่วยวัตถุดิบ การใช้ดัชนีรวมตัวเดียวถือว่าทุกเมนูใช้วัตถุดิบในสัดส่วนเท่ากัน ซึ่งไม่จริงเมื่อ mix เปลี่ยน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จนกว่าจะมีสูตรการผลิต (BOM) เข้าระบบ ให้ใช้ตัวเลขนี้เป็นสัญญาณเชิงทิศทางเท่านั้น อย่าใช้เป็นปริมาณสั่งซื้อที่ผูกพัน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" y="4811246"/>
            <a:ext cx="11057839" cy="731520"/>
          </a:xfrm>
          <a:prstGeom prst="roundRect">
            <a:avLst>
              <a:gd name="adj" fmla="val 7500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4811246"/>
            <a:ext cx="41148" cy="731520"/>
          </a:xfrm>
          <a:prstGeom prst="rect">
            <a:avLst/>
          </a:prstGeom>
          <a:solidFill>
            <a:srgbClr val="4B4E78"/>
          </a:solidFill>
          <a:ln w="12700">
            <a:solidFill>
              <a:srgbClr val="4B4E7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829534"/>
            <a:ext cx="107835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งาน BOM อยู่ในโรดแมป R-03 · เมื่อทำเสร็จ Suggested PR จะคำนวณจากสูตรจริงราย SKU แทนดัชนีรวม และใช้สั่งซื้อได้จริง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19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การใช้งานประจำ · CADENCE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รอบการทำงานหนึ่งเดือน ควรเป็นแบบนี้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57839" cy="914400"/>
        </p:xfrm>
        <a:graphic>
          <a:graphicData uri="http://schemas.openxmlformats.org/drawingml/2006/table">
            <a:tbl>
              <a:tblPr/>
              <a:tblGrid>
                <a:gridCol w="1990411"/>
                <a:gridCol w="5086606"/>
                <a:gridCol w="2211568"/>
                <a:gridCol w="1769254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ช่วงเวลา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ทำอะไร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ใคร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ใช้เวลา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83664"/>
          <a:ext cx="11057839" cy="914400"/>
        </p:xfrm>
        <a:graphic>
          <a:graphicData uri="http://schemas.openxmlformats.org/drawingml/2006/table">
            <a:tbl>
              <a:tblPr/>
              <a:tblGrid>
                <a:gridCol w="1990411"/>
                <a:gridCol w="5086606"/>
                <a:gridCol w="2211568"/>
                <a:gridCol w="1769254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วันที่ 1–2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Export ข้อมูลเดือนที่เพิ่งปิด จาก FoodStory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Demand Planner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15 นาที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วันที่ 2–3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อัปโหลด · ประมวลผล · ทบทวนธงเตือน · เตรียมวาระ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Demand Planner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1 ชั่วโมง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วันที่ 3–4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หารือกับ MKT เรื่องแคมเปญและ NPD ที่ข้อมูลยังไม่รู้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Planner + MKT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1 ชั่วโมง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วันที่ 4–5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ใส่ override พร้อมเหตุผล · Export Excel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Demand Planner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30 นาที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Demand Review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นำเสนอเฉพาะรายการที่ติดธง gap · ตกลง Consensus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IBP + ทุกฝ่าย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ในที่ประชุม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หลังประชุม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อัปเดต workbook · ป้อนเข้า Suggested PR · เปิด PO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SCM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30 นาที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ทบทวนย้อนหลัง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เดือนถัดไป เทียบ override ที่ทำไว้กับยอดจริง เรียนรู้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IBP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20 นาที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5120640"/>
            <a:ext cx="11057839" cy="841248"/>
          </a:xfrm>
          <a:prstGeom prst="roundRect">
            <a:avLst>
              <a:gd name="adj" fmla="val 6522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66928" y="5120640"/>
            <a:ext cx="41148" cy="841248"/>
          </a:xfrm>
          <a:prstGeom prst="rect">
            <a:avLst/>
          </a:prstGeom>
          <a:solidFill>
            <a:srgbClr val="5F7040"/>
          </a:solidFill>
          <a:ln w="12700">
            <a:solidFill>
              <a:srgbClr val="5F704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5138928"/>
            <a:ext cx="1078351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ขั้นสุดท้ายสำคัญที่สุดและมักถูกข้าม: เดือนถัดไปให้เปิดชีต Overrides ของเดือนก่อน แล้วดูว่าที่คุณแก้ด้วยมือนั้นดีกว่าหรือแย่กว่าที่ระบบทาย — นี่คือวิธีเดียวที่กระบวนการจะเก่งขึ้นจริง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20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สรุป · DO / DON'T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ทำแบบนี้ · อย่าทำแบบนี้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27048"/>
            <a:ext cx="5368900" cy="3840480"/>
          </a:xfrm>
          <a:prstGeom prst="roundRect">
            <a:avLst>
              <a:gd name="adj" fmla="val 214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37360"/>
            <a:ext cx="482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704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ควรทำ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" y="2212848"/>
            <a:ext cx="48202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อ่านบรรทัดสรุปหลังกดประมวลผลทุกครั้ง ว่าอ่านได้กี่เดือน ตั้งแต่เดือนไหน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ดูค่า WMAPE ก่อนเชื่อตัวเลขของ SKU นั้น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เขียนเหตุผลของ override ให้คนอื่นอ่านเข้าใจ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Export Excel ก่อนปิดหน้าเว็บทุกครั้ง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เปิด “ตัดเดือนล่าสุดทิ้ง” เมื่อ export ระหว่างเดือน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ใช้ตัวกรอง “เฉพาะรายการที่ต้องตัดสินใจ” เป็นวาระประชุม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เดือนถัดไป กลับมาดูว่า override ที่ทำไว้ถูกหรือผิด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55868" y="1527048"/>
            <a:ext cx="5368900" cy="3840480"/>
          </a:xfrm>
          <a:prstGeom prst="roundRect">
            <a:avLst>
              <a:gd name="adj" fmla="val 214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0188" y="1737360"/>
            <a:ext cx="482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C4A3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อย่าทำ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30188" y="2212848"/>
            <a:ext cx="48202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อย่าใช้ตัวเลขจากชุด DEMO ในการตัดสินใจจริง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อย่าเชื่อ SKU ที่ติดธง “ประวัติสั้น” โดยไม่ตรวจ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อย่าปิด “ตัด outlier” เพราะอยากให้ตัวเลขสูงขึ้น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อย่า override โดยไม่เขียนเหตุผล — เดือนหน้าจะไม่มีใครรู้ว่าทำไม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อย่ารีเฟรชหน้าเว็บก่อน export ถ้ามี override ค้างอยู่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อย่าใช้ Suggested PR ที่มาจาก Demand Index เป็นปริมาณสั่งซื้อผูกพัน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อย่าแก้ตัวเลขเดิมซ้ำทุกเดือน — ถ้าต้องแก้ตลอด ให้แจ้งแก้ที่ต้นเหตุ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21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แก้ปัญหา · TROUBLESHOOTING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เจอแบบนี้ ทำยังไง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57839" cy="914400"/>
        </p:xfrm>
        <a:graphic>
          <a:graphicData uri="http://schemas.openxmlformats.org/drawingml/2006/table">
            <a:tbl>
              <a:tblPr/>
              <a:tblGrid>
                <a:gridCol w="3317352"/>
                <a:gridCol w="3538509"/>
                <a:gridCol w="4201979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อาการ</a:t>
                      </a:r>
                      <a:endParaRPr lang="en-US" sz="9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สาเหตุที่พบบ่อย</a:t>
                      </a:r>
                      <a:endParaRPr lang="en-US" sz="9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วิธีแก้</a:t>
                      </a:r>
                      <a:endParaRPr lang="en-US" sz="9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65376"/>
          <a:ext cx="11057839" cy="914400"/>
        </p:xfrm>
        <a:graphic>
          <a:graphicData uri="http://schemas.openxmlformats.org/drawingml/2006/table">
            <a:tbl>
              <a:tblPr/>
              <a:tblGrid>
                <a:gridCol w="3317352"/>
                <a:gridCol w="3538509"/>
                <a:gridCol w="4201979"/>
              </a:tblGrid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ขึ้นว่า “แปลงเดือนไม่ได้เลย”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จับคู่คอลัมน์เดือนผิด หรือรูปแบบวันที่แปลก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เลือกคอลัมน์เดือนใหม่จาก dropdown · ถ้ายังไม่ได้ ให้แก้ไฟล์ให้เดือนเป็น 2026-06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จำนวน SKU น้อยกว่าที่ควร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คอลัมน์รหัสถูกจับคู่ผิด หรือไฟล์มีแถวสรุปปน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ตรวจ dropdown “รหัส SKU” · ลบแถวรวมยอดออกจากไฟล์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คอลัมน์ Consensus ว่างทั้งหมด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รหัส SKU ในไฟล์ไม่ตรงกับ IBP workbook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ต้องแก้ master data ให้รหัสตรงกัน — แจ้ง IT · ระหว่างนี้ยังพยากรณ์ได้แต่เทียบแผนไม่ได้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ตัวเลขใหญ่ผิดปกติ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จับคู่คอลัมน์ “จำนวน” ไปที่ยอดเงิน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เปลี่ยน dropdown “จำนวน (แก้ว)” ให้ถูก แล้วกดประมวลผลใหม่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กลุ่ม “อื่น ๆ” มียอดเยอะ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มีสาขาหรือช่องทางที่ชื่อไม่เข้ากฎคำค้น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เพิ่มคำค้นในกล่องกฎช่องทาง แล้วกดประมวลผลใหม่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กด Export Excel แล้วได้ CSV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ไลบรารี Excel โหลดไม่สำเร็จ (เน็ตบริษัทบล็อก)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ใช้ CSV แทนได้ทันที ข้อมูลครบเหมือนกัน · แจ้ง IT ให้เปิด cdnjs ถ้าต้องการ Excel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override ที่ทำไว้หายหมด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รีเฟรชหน้าเว็บ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ไม่มีทางกู้ — ต้องทำใหม่ · ครั้งหน้า export ก่อนปิดเสมอ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66928" y="2212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70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J I A N   C H 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2697480"/>
            <a:ext cx="11057839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718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พยากรณ์ที่ดี ไม่ใช่พยากรณ์ที่แม่นที่สุด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แต่คือพยากรณ์ที่ทุกคนเข้าใจตรงกันว่ามาจากไหน และแก้ไขได้เมื่อมีข้อมูลใหม่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66928" y="46177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ติดต่อ / แจ้งปัญหา:  SCM · IBP · IT — Jiancha Tea Thailand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เอกสารประกอบ:  SRS · Integration Roadmap · UAT Test Script  (อยู่ในชุด IT Development Package)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54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คู่มือผู้ใช้งาน Module 02+ · เวอร์ชัน 1.0 · 30 กรกฎาคม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JIAN CHA (见茶山)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02+ Sales Forecast — คู่มือผู้ใช้งาน</dc:title>
  <dc:subject>PptxGenJS Presentation</dc:subject>
  <dc:creator>Arin Tanakasemsup · SCM/IBP/IT Director</dc:creator>
  <cp:lastModifiedBy>Arin Tanakasemsup · SCM/IBP/IT Director</cp:lastModifiedBy>
  <cp:revision>1</cp:revision>
  <dcterms:created xsi:type="dcterms:W3CDTF">2026-07-30T15:36:52Z</dcterms:created>
  <dcterms:modified xsi:type="dcterms:W3CDTF">2026-07-30T15:36:52Z</dcterms:modified>
</cp:coreProperties>
</file>